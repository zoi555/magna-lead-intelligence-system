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FOODSERVICE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Intelligence System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structured outbound lead generation in company history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804672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08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analysed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3108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verified pipeline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3108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£597+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weekly spend threshold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3108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driving this project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Director Review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outbound lead generation has ever existed at Magna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64.9%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independent customers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417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2148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48716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customer lifespan before going inactive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417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2148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and gone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48716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ordered once and never returned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417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66560" y="2148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churn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48716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customers — no onboarding follow-up call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587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 system addresses a structural gap — Magna has never proactively found customers. Every acquisition to date has been inbound, referral, or manual dialling with no intelligence.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from real NetSuite data — organic independent customers only, top 25% by weekly sales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303520" cy="3429000"/>
          </a:xfrm>
          <a:prstGeom prst="roundRect">
            <a:avLst>
              <a:gd name="adj" fmla="val 2133"/>
            </a:avLst>
          </a:prstGeom>
          <a:solidFill>
            <a:srgbClr val="F0FDF4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Business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Fried Chicken Shop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Piri Piri Shop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Casual Restaurant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986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 Restaurant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 and coffee shops: excluded (80.5% churn)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143000"/>
            <a:ext cx="2971800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179576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£597+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17957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spend threshold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984248"/>
            <a:ext cx="2971800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020824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2×/wk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86600" y="2020824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order frequency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2825496"/>
            <a:ext cx="2971800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862072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W HA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SW SL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6600" y="286207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postcodes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3666744"/>
            <a:ext cx="2971800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7033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3703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decision-maker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2004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average weekly sales: £1,561  ·  Average weekly orders: 2.06  ·  Contact name on file: 97%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10-STAGE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filters eliminate bad data before any paid API call is made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DBEAFE"/>
          </a:solidFill>
          <a:ln w="15240">
            <a:solidFill>
              <a:srgbClr val="2E6D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365760" cy="320040"/>
          </a:xfrm>
          <a:prstGeom prst="rect">
            <a:avLst/>
          </a:prstGeom>
          <a:solidFill>
            <a:srgbClr val="2E6DB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069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" y="1417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84248" y="1005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DCFCE7"/>
          </a:solidFill>
          <a:ln w="15240">
            <a:solidFill>
              <a:srgbClr val="1A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248" y="1051560"/>
            <a:ext cx="365760" cy="320040"/>
          </a:xfrm>
          <a:prstGeom prst="rect">
            <a:avLst/>
          </a:prstGeom>
          <a:solidFill>
            <a:srgbClr val="1A6B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68296" y="1069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Check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39112" y="1417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 — legitimacy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39896" y="1005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DBEAFE"/>
          </a:solidFill>
          <a:ln w="15240">
            <a:solidFill>
              <a:srgbClr val="2E6D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1051560"/>
            <a:ext cx="365760" cy="320040"/>
          </a:xfrm>
          <a:prstGeom prst="rect">
            <a:avLst/>
          </a:prstGeom>
          <a:solidFill>
            <a:srgbClr val="2E6DB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23944" y="1069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94760" y="1417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matching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95544" y="1005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95544" y="1051560"/>
            <a:ext cx="36576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79592" y="1069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Area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50408" y="1417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In-area or Expansion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51192" y="1005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DBEAFE"/>
          </a:solidFill>
          <a:ln w="15240">
            <a:solidFill>
              <a:srgbClr val="2E6D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1192" y="1051560"/>
            <a:ext cx="365760" cy="320040"/>
          </a:xfrm>
          <a:prstGeom prst="rect">
            <a:avLst/>
          </a:prstGeom>
          <a:solidFill>
            <a:srgbClr val="2E6DB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1069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06056" y="1417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— JustEat / UberEats / Deliveroo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148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194560"/>
            <a:ext cx="365760" cy="32004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" y="2212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Scoring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3464" y="2560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 proxy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84248" y="2148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DBEAFE"/>
          </a:solidFill>
          <a:ln w="15240">
            <a:solidFill>
              <a:srgbClr val="2E6D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2194560"/>
            <a:ext cx="365760" cy="320040"/>
          </a:xfrm>
          <a:prstGeom prst="rect">
            <a:avLst/>
          </a:prstGeom>
          <a:solidFill>
            <a:srgbClr val="2E6DB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68296" y="2212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39112" y="2560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House + DataLedger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39896" y="2148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9896" y="2194560"/>
            <a:ext cx="365760" cy="32004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23944" y="2212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794760" y="2560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A/B/Low/Ignore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95544" y="2148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DCFCE7"/>
          </a:solidFill>
          <a:ln w="15240">
            <a:solidFill>
              <a:srgbClr val="1A6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95544" y="2194560"/>
            <a:ext cx="365760" cy="320040"/>
          </a:xfrm>
          <a:prstGeom prst="rect">
            <a:avLst/>
          </a:prstGeom>
          <a:solidFill>
            <a:srgbClr val="1A6B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79592" y="2212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Export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50408" y="2560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Sales Pro upload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51192" y="2148840"/>
            <a:ext cx="1627632" cy="100584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 w="15240">
            <a:solidFill>
              <a:srgbClr val="1F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51192" y="2194560"/>
            <a:ext cx="365760" cy="320040"/>
          </a:xfrm>
          <a:prstGeom prst="rect">
            <a:avLst/>
          </a:prstGeom>
          <a:solidFill>
            <a:srgbClr val="1F3A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35240" y="2212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306056" y="25603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+ quarterly update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56232" y="1508760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11880" y="1508760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67528" y="1508760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23176" y="1508760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56232" y="2651760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11880" y="2651760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67528" y="2651760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23176" y="2651760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from organic independent customers only — contracted and franchise accounts excluded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Type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389120" cy="420624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6350">
            <a:solidFill>
              <a:srgbClr val="1A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3502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350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Casual Restaurant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151790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28.6% churn — most loyal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773936"/>
            <a:ext cx="438912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6350">
            <a:solidFill>
              <a:srgbClr val="2E6D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105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8105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 Chicken Shop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19933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ICP type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438912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6350">
            <a:solidFill>
              <a:srgbClr val="2E6D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860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286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Piri Piri Shop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24688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spend £734/wk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4389120" cy="420624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614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7614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 Restaurant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294436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4389120" cy="420624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3697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2369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Pizza  ·  +5 Kebab  ·  +10 Fish &amp; Chips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" y="341985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types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675888"/>
            <a:ext cx="4389120" cy="420624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1246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7124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/ Coffee Shop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389534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80.5% churn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4151376"/>
            <a:ext cx="4389120" cy="420624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8795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187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/ unclassified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4370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 churn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2040" y="9875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Factors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1298448"/>
            <a:ext cx="402336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6350">
            <a:solidFill>
              <a:srgbClr val="2E6D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33502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133502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UB, W, HA, TW, SW, SL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32120" y="151790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territory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92040" y="1773936"/>
            <a:ext cx="4023360" cy="420624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18105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32120" y="18105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N, NW, E, SE, HP, WD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199339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territory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92040" y="2249424"/>
            <a:ext cx="4023360" cy="420624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6350">
            <a:solidFill>
              <a:srgbClr val="1A6B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22860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32120" y="22860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 captured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32120" y="246888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demographic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92040" y="2724912"/>
            <a:ext cx="402336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6350">
            <a:solidFill>
              <a:srgbClr val="2E6D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7614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532120" y="27614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2–3 delivery platforms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532120" y="294436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confidence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92040" y="3200400"/>
            <a:ext cx="4023360" cy="420624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23697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532120" y="32369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name captured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532120" y="341985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gatekeeper rate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3675888"/>
            <a:ext cx="4023360" cy="420624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6350">
            <a:solidFill>
              <a:srgbClr val="2E6D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371246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532120" y="37124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Reviews 200+  ·  +8 FSA rating 4-5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532120" y="389534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signals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151376"/>
            <a:ext cx="4023360" cy="420624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18795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32120" y="41879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delivery area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32120" y="437083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Expansion Pipeline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TIERS + OUTPUT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exits the pipeline into one of six routes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905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within 24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4688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40–69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within the week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1772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20–39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 only — one call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76656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sales time allocated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063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routing for special cases: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383280"/>
            <a:ext cx="2788920" cy="1188720"/>
          </a:xfrm>
          <a:prstGeom prst="roundRect">
            <a:avLst>
              <a:gd name="adj" fmla="val 538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4564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inactive customer (70%+ dedup score)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39319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LIST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383280"/>
            <a:ext cx="2788920" cy="1188720"/>
          </a:xfrm>
          <a:prstGeom prst="roundRect">
            <a:avLst>
              <a:gd name="adj" fmla="val 5385"/>
            </a:avLst>
          </a:prstGeom>
          <a:solidFill>
            <a:srgbClr val="DBEAFE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4564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Magna delivery area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39319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PIPELINE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3383280"/>
            <a:ext cx="2788920" cy="1188720"/>
          </a:xfrm>
          <a:prstGeom prst="roundRect">
            <a:avLst>
              <a:gd name="adj" fmla="val 5385"/>
            </a:avLst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4564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active customer (70%+ dedup score)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39319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REACTIVATION OPPORTUNITY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high-value inactive customers identified — faster ROI than any new lead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inactive customers who spent £300+ per week AND placed 5 or more orders. These had genuine relationships with Magna that ended. Call this week — do not wait for the system to be built.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 Sales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3796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402336"/>
          </a:xfrm>
          <a:prstGeom prst="rect">
            <a:avLst/>
          </a:prstGeom>
          <a:solidFill>
            <a:srgbClr val="FFFB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751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197510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Kitchen Holloway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19751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£5,755/wk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1975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140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24140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Alpasha Butchers TW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2414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£2,563/wk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orders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8595360" cy="402336"/>
          </a:xfrm>
          <a:prstGeom prst="rect">
            <a:avLst/>
          </a:prstGeom>
          <a:solidFill>
            <a:srgbClr val="FFFB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52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R623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2852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 Pizza Leicester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£2,707/wk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orders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236976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91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B435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3444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 Peri Original UB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3291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£1,149/wk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orders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675888"/>
            <a:ext cx="8595360" cy="402336"/>
          </a:xfrm>
          <a:prstGeom prst="rect">
            <a:avLst/>
          </a:prstGeom>
          <a:solidFill>
            <a:srgbClr val="FFFB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730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34440" y="37307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Umami Street Food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3730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£1,127/wk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3730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orders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114800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169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A685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34440" y="416966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Pepe's Piri Piri Ealing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80560" y="41696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£1,067/wk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37960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orders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NEXT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before any code is written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0704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118872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88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691640" y="1060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missing postcode 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5331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customer records sent for completion — needed for deduplication 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5623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4672" y="198424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19842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691640" y="1856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delivery postcode list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1488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and outer codes — sets geographic boundary for entire pipeline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517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4672" y="2779776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77977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9164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Sales Pro CRM field 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29443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fields, add pipeline stage tracking, agree import format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392424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447288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4672" y="357530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57530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91640" y="3447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visual workflow diagram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373989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 map built before any code is written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187952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DCFCE7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42816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04672" y="4370832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43708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91640" y="42428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one inner postcode sector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91640" y="453542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UB1 2 in, verified scored leads out to Magna Sales Pro — prove it works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delivers once operational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leads 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has passed FSA check, deduplication, platform verification, and company enrichment before reaching a sales rep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embarrassing calls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inactive customers automatically removed — no rep ever calls an existing customer as a new lead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33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contacts captured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535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names from Companies House + mobile numbers from delivery platforms — reps ask for the right person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2542032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33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9535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delivered by inner postcode sector — targeted, measurable, assignable by route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039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2394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 updated quarterly from Magna Sales Pro conversion data — gets smarter over 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712464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8039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ready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12394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Out-of-area leads stored in Expansion Pipeline — fully enriched, ready to activate when routes grow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Magna Lead Intelligence System</dc:title>
  <dc:subject>PptxGenJS Presentation</dc:subject>
  <dc:creator>PptxGenJS</dc:creator>
  <cp:lastModifiedBy>PptxGenJS</cp:lastModifiedBy>
  <cp:revision>1</cp:revision>
  <dcterms:created xsi:type="dcterms:W3CDTF">2026-06-09T10:42:33Z</dcterms:created>
  <dcterms:modified xsi:type="dcterms:W3CDTF">2026-06-09T10:42:33Z</dcterms:modified>
</cp:coreProperties>
</file>